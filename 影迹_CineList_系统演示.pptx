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0946e1fddd4400" /><Relationship Type="http://schemas.openxmlformats.org/officeDocument/2006/relationships/extended-properties" Target="/docProps/app.xml" Id="Rcdb84d1bcaa8420b" /><Relationship Type="http://schemas.openxmlformats.org/officeDocument/2006/relationships/officeDocument" Target="/ppt/presentation.xml" Id="Rb3a91ff6958a4a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1ba6c2ad984cca"/>
  </p:sldMasterIdLst>
  <p:notesMasterIdLst>
    <p:notesMasterId xmlns:r="http://schemas.openxmlformats.org/officeDocument/2006/relationships" r:id="R1ab7938195474c56"/>
  </p:notesMasterIdLst>
  <p:sldIdLst>
    <p:sldId xmlns:r="http://schemas.openxmlformats.org/officeDocument/2006/relationships" id="256" r:id="R67399eab6b6c4c0c"/>
    <p:sldId xmlns:r="http://schemas.openxmlformats.org/officeDocument/2006/relationships" id="257" r:id="R435926097da44bf0"/>
    <p:sldId xmlns:r="http://schemas.openxmlformats.org/officeDocument/2006/relationships" id="258" r:id="R6ef35a2c0a0c4828"/>
    <p:sldId xmlns:r="http://schemas.openxmlformats.org/officeDocument/2006/relationships" id="259" r:id="Rc37f6aa06fd149e7"/>
    <p:sldId xmlns:r="http://schemas.openxmlformats.org/officeDocument/2006/relationships" id="260" r:id="R8f30210b0dd44352"/>
    <p:sldId xmlns:r="http://schemas.openxmlformats.org/officeDocument/2006/relationships" id="261" r:id="R24bd8f14efe84b9b"/>
    <p:sldId xmlns:r="http://schemas.openxmlformats.org/officeDocument/2006/relationships" id="262" r:id="R2b1863b63fc74039"/>
    <p:sldId xmlns:r="http://schemas.openxmlformats.org/officeDocument/2006/relationships" id="263" r:id="Rda50279aa6ec4bb3"/>
    <p:sldId xmlns:r="http://schemas.openxmlformats.org/officeDocument/2006/relationships" id="264" r:id="Rd7324a8ed8f74987"/>
    <p:sldId xmlns:r="http://schemas.openxmlformats.org/officeDocument/2006/relationships" id="265" r:id="Re21ba612dc75402c"/>
    <p:sldId xmlns:r="http://schemas.openxmlformats.org/officeDocument/2006/relationships" id="266" r:id="Ra988b9b356744b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db20741307444a" /><Relationship Type="http://schemas.openxmlformats.org/officeDocument/2006/relationships/slideMaster" Target="/ppt/slideMasters/slideMaster1.xml" Id="Rcc1ba6c2ad984cca" /><Relationship Type="http://schemas.openxmlformats.org/officeDocument/2006/relationships/notesMaster" Target="/ppt/notesMasters/notesMaster1.xml" Id="R1ab7938195474c56" /><Relationship Type="http://schemas.openxmlformats.org/officeDocument/2006/relationships/presProps" Target="/ppt/presProps.xml" Id="Rcef002649a3646e3" /><Relationship Type="http://schemas.openxmlformats.org/officeDocument/2006/relationships/tableStyles" Target="/ppt/tableStyles.xml" Id="R7e58b45f661447c5" /><Relationship Type="http://schemas.openxmlformats.org/officeDocument/2006/relationships/slide" Target="/ppt/slides/slide1.xml" Id="R67399eab6b6c4c0c" /><Relationship Type="http://schemas.openxmlformats.org/officeDocument/2006/relationships/slide" Target="/ppt/slides/slide2.xml" Id="R435926097da44bf0" /><Relationship Type="http://schemas.openxmlformats.org/officeDocument/2006/relationships/slide" Target="/ppt/slides/slide3.xml" Id="R6ef35a2c0a0c4828" /><Relationship Type="http://schemas.openxmlformats.org/officeDocument/2006/relationships/slide" Target="/ppt/slides/slide4.xml" Id="Rc37f6aa06fd149e7" /><Relationship Type="http://schemas.openxmlformats.org/officeDocument/2006/relationships/slide" Target="/ppt/slides/slide5.xml" Id="R8f30210b0dd44352" /><Relationship Type="http://schemas.openxmlformats.org/officeDocument/2006/relationships/slide" Target="/ppt/slides/slide6.xml" Id="R24bd8f14efe84b9b" /><Relationship Type="http://schemas.openxmlformats.org/officeDocument/2006/relationships/slide" Target="/ppt/slides/slide7.xml" Id="R2b1863b63fc74039" /><Relationship Type="http://schemas.openxmlformats.org/officeDocument/2006/relationships/slide" Target="/ppt/slides/slide8.xml" Id="Rda50279aa6ec4bb3" /><Relationship Type="http://schemas.openxmlformats.org/officeDocument/2006/relationships/slide" Target="/ppt/slides/slide9.xml" Id="Rd7324a8ed8f74987" /><Relationship Type="http://schemas.openxmlformats.org/officeDocument/2006/relationships/slide" Target="/ppt/slides/slide10.xml" Id="Re21ba612dc75402c" /><Relationship Type="http://schemas.openxmlformats.org/officeDocument/2006/relationships/slide" Target="/ppt/slides/slide11.xml" Id="Ra988b9b356744b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944119ac3845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d10b7153784e6a" /><Relationship Type="http://schemas.openxmlformats.org/officeDocument/2006/relationships/notesMaster" Target="/ppt/notesMasters/notesMaster1.xml" Id="R491eb4eb84f641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3bc1868c2443a5" /><Relationship Type="http://schemas.openxmlformats.org/officeDocument/2006/relationships/notesMaster" Target="/ppt/notesMasters/notesMaster1.xml" Id="Rce53ff72e56b48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41697d280f4767" /><Relationship Type="http://schemas.openxmlformats.org/officeDocument/2006/relationships/notesMaster" Target="/ppt/notesMasters/notesMaster1.xml" Id="R8295a6ff4c254b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cba3f0d20442ae" /><Relationship Type="http://schemas.openxmlformats.org/officeDocument/2006/relationships/notesMaster" Target="/ppt/notesMasters/notesMaster1.xml" Id="R208f969f02db42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bd73c157d346f0" /><Relationship Type="http://schemas.openxmlformats.org/officeDocument/2006/relationships/notesMaster" Target="/ppt/notesMasters/notesMaster1.xml" Id="Rf9efd9ee256e4f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2b34d01c5d4bd1" /><Relationship Type="http://schemas.openxmlformats.org/officeDocument/2006/relationships/notesMaster" Target="/ppt/notesMasters/notesMaster1.xml" Id="R070e26cf8e0a47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6936e2a6ab44a9" /><Relationship Type="http://schemas.openxmlformats.org/officeDocument/2006/relationships/notesMaster" Target="/ppt/notesMasters/notesMaster1.xml" Id="R274d2ac3d30348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36848568ed42b0" /><Relationship Type="http://schemas.openxmlformats.org/officeDocument/2006/relationships/notesMaster" Target="/ppt/notesMasters/notesMaster1.xml" Id="R7e378c6211d74e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567fa0fc044376" /><Relationship Type="http://schemas.openxmlformats.org/officeDocument/2006/relationships/notesMaster" Target="/ppt/notesMasters/notesMaster1.xml" Id="R74637968f6fb4b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8adef111cb24dd8" /><Relationship Type="http://schemas.openxmlformats.org/officeDocument/2006/relationships/notesMaster" Target="/ppt/notesMasters/notesMaster1.xml" Id="R13bde578ac434e2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3344f7f5c64e15" /><Relationship Type="http://schemas.openxmlformats.org/officeDocument/2006/relationships/notesMaster" Target="/ppt/notesMasters/notesMaster1.xml" Id="R303109170f9b48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9ee782586c4d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66d471b94140fc" /><Relationship Type="http://schemas.openxmlformats.org/officeDocument/2006/relationships/slideLayout" Target="/ppt/slideLayouts/slideLayout1.xml" Id="R019f2a9515f145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9f2a9515f145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7100876d14084" /><Relationship Type="http://schemas.openxmlformats.org/officeDocument/2006/relationships/notesSlide" Target="/ppt/notesSlides/notesSlide1.xml" Id="R6c5a30ce07f644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d461a46324a1f" /><Relationship Type="http://schemas.openxmlformats.org/officeDocument/2006/relationships/notesSlide" Target="/ppt/notesSlides/notesSlide2.xml" Id="R720927ad5cd445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c9600260a4c4d" /><Relationship Type="http://schemas.openxmlformats.org/officeDocument/2006/relationships/notesSlide" Target="/ppt/notesSlides/notesSlide3.xml" Id="R03240e47b4ab47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cddd225ab41e4" /><Relationship Type="http://schemas.openxmlformats.org/officeDocument/2006/relationships/notesSlide" Target="/ppt/notesSlides/notesSlide4.xml" Id="Rc7f7fcccc1384c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35241a0bf4abb" /><Relationship Type="http://schemas.openxmlformats.org/officeDocument/2006/relationships/notesSlide" Target="/ppt/notesSlides/notesSlide5.xml" Id="R1dbaca596c8741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ad342c868489d" /><Relationship Type="http://schemas.openxmlformats.org/officeDocument/2006/relationships/notesSlide" Target="/ppt/notesSlides/notesSlide6.xml" Id="R77c3677492b045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ba33ce1d74e07" /><Relationship Type="http://schemas.openxmlformats.org/officeDocument/2006/relationships/notesSlide" Target="/ppt/notesSlides/notesSlide7.xml" Id="R53d79e7d633341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3396a4317405a" /><Relationship Type="http://schemas.openxmlformats.org/officeDocument/2006/relationships/notesSlide" Target="/ppt/notesSlides/notesSlide8.xml" Id="R9b6a18872fb841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8df280bb24a7b" /><Relationship Type="http://schemas.openxmlformats.org/officeDocument/2006/relationships/notesSlide" Target="/ppt/notesSlides/notesSlide9.xml" Id="R8916f8159e9449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6d613fec5411b" /><Relationship Type="http://schemas.openxmlformats.org/officeDocument/2006/relationships/notesSlide" Target="/ppt/notesSlides/notesSlide10.xml" Id="R6fd78d0955c5485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d2ed3fd96444e" /><Relationship Type="http://schemas.openxmlformats.org/officeDocument/2006/relationships/notesSlide" Target="/ppt/notesSlides/notesSlide11.xml" Id="R34e27b76726542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BE82A-6CE2-49EB-8308-8BDA5097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10744200" cy="5562600"/>
          </a:xfrm>
          <a:prstGeom xmlns:a="http://schemas.openxmlformats.org/drawingml/2006/main" prst="roundRect">
            <a:avLst>
              <a:gd name="adj" fmla="val 1027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CD8C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92C72-1D10-4D41-8348-9E7B2314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049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D6549"/>
                </a:solidFill>
              </a:defRPr>
            </a:pPr>
            <a:r>
              <a:rPr sz="1950" b="1">
                <a:solidFill>
                  <a:srgbClr val="0D6549"/>
                </a:solidFill>
              </a:rPr>
              <a:t>影迹 CineList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78966-1597-4A51-BE9B-282AA839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8115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549"/>
          </a:solidFill>
          <a:ln xmlns:a="http://schemas.openxmlformats.org/drawingml/2006/main" w="0">
            <a:solidFill>
              <a:srgbClr val="0D65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ED8A9-1F7F-42DD-BAFC-4888CFEA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52650"/>
            <a:ext cx="7810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7211D"/>
                </a:solidFill>
              </a:defRPr>
            </a:pPr>
            <a:r>
              <a:rPr sz="4650" b="1">
                <a:solidFill>
                  <a:srgbClr val="17211D"/>
                </a:solidFill>
              </a:rPr>
              <a:t>影迹：从个人片单到多人观影账号系统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F82964-A0CC-4717-8CCC-3C93CEC4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71950"/>
            <a:ext cx="704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C6A62"/>
                </a:solidFill>
              </a:defRPr>
            </a:pPr>
            <a:r>
              <a:rPr sz="1875" b="0">
                <a:solidFill>
                  <a:srgbClr val="5C6A62"/>
                </a:solidFill>
              </a:rPr>
              <a:t>一个面向同学与个人用户的观影记录、选片推荐与账号数据保存网站。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11D0FF-3307-489C-A5B7-4AA6A632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76400"/>
            <a:ext cx="1485900" cy="20002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17352D"/>
          </a:solidFill>
          <a:ln xmlns:a="http://schemas.openxmlformats.org/drawingml/2006/main" w="9525">
            <a:solidFill>
              <a:srgbClr val="1735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1C060C-63F2-48C9-80CF-02C5D71E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19300"/>
            <a:ext cx="7810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7085F6-3784-4CEA-A58F-B337B853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386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6549"/>
                </a:solidFill>
              </a:defRPr>
            </a:pPr>
            <a:r>
              <a:rPr sz="1650" b="1">
                <a:solidFill>
                  <a:srgbClr val="0D6549"/>
                </a:solidFill>
              </a:rPr>
              <a:t>片单 · 推荐 · 账号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7E18F6-1595-470B-BB1C-4167CFAB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005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A62"/>
                </a:solidFill>
              </a:defRPr>
            </a:pPr>
            <a:r>
              <a:rPr sz="1350" b="0">
                <a:solidFill>
                  <a:srgbClr val="5C6A62"/>
                </a:solidFill>
              </a:rPr>
              <a:t>系统演示汇报</a:t>
            </a:r>
          </a:p>
        </p:txBody>
      </p:sp>
    </p:spTree>
    <p:extLst>
      <p:ext uri="{BB962C8B-B14F-4D97-AF65-F5344CB8AC3E}">
        <p14:creationId xmlns:p14="http://schemas.microsoft.com/office/powerpoint/2010/main" val="5646002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0B0665-7461-4DE8-B324-ED4CAA8A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6549"/>
                </a:solidFill>
              </a:defRPr>
            </a:pPr>
            <a:r>
              <a:rPr sz="1200" b="1">
                <a:solidFill>
                  <a:srgbClr val="0D6549"/>
                </a:solidFill>
              </a:rPr>
              <a:t>01 / 系统定位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5B2F0-5A34-4443-91CC-F07B53FC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11D"/>
                </a:solidFill>
              </a:defRPr>
            </a:pPr>
            <a:r>
              <a:rPr sz="3150" b="1">
                <a:solidFill>
                  <a:srgbClr val="17211D"/>
                </a:solidFill>
              </a:rPr>
              <a:t>影迹解决的是“想看很多，但管理很散”的问题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B606E-7A2B-4CD9-8D26-5202CE3B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A62"/>
                </a:solidFill>
              </a:defRPr>
            </a:pPr>
            <a:r>
              <a:rPr sz="1500" b="0">
                <a:solidFill>
                  <a:srgbClr val="5C6A62"/>
                </a:solidFill>
              </a:rPr>
              <a:t>把片单、进度、评分、平台入口和个人偏好收拢到一个地方。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4ED8D-735F-4C6B-9854-AACF2FCE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3048000" cy="2476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CD8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FE872A-77EA-4D76-A869-62E2AE4C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D6549"/>
                </a:solidFill>
              </a:defRPr>
            </a:pPr>
            <a:r>
              <a:rPr sz="1950" b="1">
                <a:solidFill>
                  <a:srgbClr val="0D6549"/>
                </a:solidFill>
              </a:rPr>
              <a:t>面向群体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B935E-EAFF-45D6-8856-14A2AB66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5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CDC52-B0A2-441D-A632-86CB4D83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861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D"/>
                </a:solidFill>
              </a:defRPr>
            </a:pPr>
            <a:r>
              <a:rPr sz="1650" b="1">
                <a:solidFill>
                  <a:srgbClr val="17211D"/>
                </a:solidFill>
              </a:rPr>
              <a:t>普通观影用户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50F822-48C0-47DA-BFBE-DBF04514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B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B65BB6-E737-4FFB-93C8-59DB4A8B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623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A62"/>
                </a:solidFill>
              </a:defRPr>
            </a:pPr>
            <a:r>
              <a:rPr sz="1650" b="0">
                <a:solidFill>
                  <a:srgbClr val="5C6A62"/>
                </a:solidFill>
              </a:rPr>
              <a:t>同学朋友群体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C7B04-BBFC-46C3-BC30-0EE2F5E4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B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29BF5D-F8F2-46C2-88C0-EF702B6A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386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A62"/>
                </a:solidFill>
              </a:defRPr>
            </a:pPr>
            <a:r>
              <a:rPr sz="1650" b="0">
                <a:solidFill>
                  <a:srgbClr val="5C6A62"/>
                </a:solidFill>
              </a:rPr>
              <a:t>需要记录观影习惯的人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D5A9E2-8E28-4092-879C-02B173EE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47900"/>
            <a:ext cx="3048000" cy="2476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CD8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522CA-8008-4C83-9B3D-397F1661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52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D6549"/>
                </a:solidFill>
              </a:defRPr>
            </a:pPr>
            <a:r>
              <a:rPr sz="1950" b="1">
                <a:solidFill>
                  <a:srgbClr val="0D6549"/>
                </a:solidFill>
              </a:rPr>
              <a:t>核心问题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F3A28F-E2C4-42A7-AAEE-6D7987EF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62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B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558BD8-763B-4857-902F-AE01A616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861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A62"/>
                </a:solidFill>
              </a:defRPr>
            </a:pPr>
            <a:r>
              <a:rPr sz="1650" b="0">
                <a:solidFill>
                  <a:srgbClr val="5C6A62"/>
                </a:solidFill>
              </a:rPr>
              <a:t>想看内容容易忘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30F996-E80B-4C5B-8A66-B8CF6474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38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B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EB4273-E1A2-4FD6-801D-72ACF962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623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A62"/>
                </a:solidFill>
              </a:defRPr>
            </a:pPr>
            <a:r>
              <a:rPr sz="1650" b="0">
                <a:solidFill>
                  <a:srgbClr val="5C6A62"/>
                </a:solidFill>
              </a:rPr>
              <a:t>进度和评分分散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A2FE93-4912-4401-BA12-9E9167D5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5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F2D7A1-3DB9-40B1-BE99-543B9573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386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D"/>
                </a:solidFill>
              </a:defRPr>
            </a:pPr>
            <a:r>
              <a:rPr sz="1650" b="1">
                <a:solidFill>
                  <a:srgbClr val="17211D"/>
                </a:solidFill>
              </a:rPr>
              <a:t>不知道今晚看什么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D6B4B8-D183-4D1E-AE3F-4CB1C106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47900"/>
            <a:ext cx="3048000" cy="2476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17352D"/>
          </a:solidFill>
          <a:ln xmlns:a="http://schemas.openxmlformats.org/drawingml/2006/main" w="9525">
            <a:solidFill>
              <a:srgbClr val="17352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DE6CB0-E212-42E1-9423-F5604367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52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系统目标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DB76BC-A621-43F9-9CFC-36CBF5C3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62300"/>
            <a:ext cx="2247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让用户更快决定看什么，并长期保留自己的观影轨迹。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34DAE6-17CA-46E9-8D7B-95D6E9D9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47E"/>
                </a:solidFill>
              </a:defRPr>
            </a:pPr>
            <a:r>
              <a:rPr sz="1050" b="0">
                <a:solidFill>
                  <a:srgbClr val="7A847E"/>
                </a:solidFill>
              </a:rPr>
              <a:t>影迹 CineList · 02</a:t>
            </a:r>
          </a:p>
        </p:txBody>
      </p:sp>
    </p:spTree>
    <p:extLst>
      <p:ext uri="{BB962C8B-B14F-4D97-AF65-F5344CB8AC3E}">
        <p14:creationId xmlns:p14="http://schemas.microsoft.com/office/powerpoint/2010/main" val="12610364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9F5F9A-F9BF-46C1-B2FE-472329E8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6549"/>
                </a:solidFill>
              </a:defRPr>
            </a:pPr>
            <a:r>
              <a:rPr sz="1200" b="1">
                <a:solidFill>
                  <a:srgbClr val="0D6549"/>
                </a:solidFill>
              </a:rPr>
              <a:t>02 / 功能总览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D49E9-C720-4641-AD22-0FADF3EA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11D"/>
                </a:solidFill>
              </a:defRPr>
            </a:pPr>
            <a:r>
              <a:rPr sz="3150" b="1">
                <a:solidFill>
                  <a:srgbClr val="17211D"/>
                </a:solidFill>
              </a:rPr>
              <a:t>系统围绕“记录、选择、回顾、共享”组织功能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5E0E1-E660-41F6-A268-6FA9A127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A62"/>
                </a:solidFill>
              </a:defRPr>
            </a:pPr>
            <a:r>
              <a:rPr sz="1500" b="0">
                <a:solidFill>
                  <a:srgbClr val="5C6A62"/>
                </a:solidFill>
              </a:rPr>
              <a:t>注册用户保存到 SQL Server，游客用户可以免登录体验。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401B9-D8E9-4FE3-98CB-D5ABE41F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30480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8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6387C-9AD0-449B-92F8-1F76EFD0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D"/>
                </a:solidFill>
              </a:defRPr>
            </a:pPr>
            <a:r>
              <a:rPr sz="1875" b="1">
                <a:solidFill>
                  <a:srgbClr val="17211D"/>
                </a:solidFill>
              </a:rPr>
              <a:t>片单管理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A07941-AAF0-4295-B276-E1D086F4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A62"/>
                </a:solidFill>
              </a:defRPr>
            </a:pPr>
            <a:r>
              <a:rPr sz="1275" b="0">
                <a:solidFill>
                  <a:srgbClr val="5C6A62"/>
                </a:solidFill>
              </a:rPr>
              <a:t>新增影片、状态、优先级、评分和短评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6C1B3-ACC0-4461-82E6-B737C4A9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66950"/>
            <a:ext cx="30480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8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97FE47-A506-4174-89A5-711871A2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76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D"/>
                </a:solidFill>
              </a:defRPr>
            </a:pPr>
            <a:r>
              <a:rPr sz="1875" b="1">
                <a:solidFill>
                  <a:srgbClr val="17211D"/>
                </a:solidFill>
              </a:rPr>
              <a:t>快速选片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6D8BBA-6CDE-42BF-812A-8A7A1324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19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A62"/>
                </a:solidFill>
              </a:defRPr>
            </a:pPr>
            <a:r>
              <a:rPr sz="1275" b="0">
                <a:solidFill>
                  <a:srgbClr val="5C6A62"/>
                </a:solidFill>
              </a:rPr>
              <a:t>按时间、心情、平台和类型推荐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CF84ED-B1A3-46A4-B79C-235B0C13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66950"/>
            <a:ext cx="30480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8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03C23B-A72E-40F2-B064-4A7346C8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D"/>
                </a:solidFill>
              </a:defRPr>
            </a:pPr>
            <a:r>
              <a:rPr sz="1875" b="1">
                <a:solidFill>
                  <a:srgbClr val="17211D"/>
                </a:solidFill>
              </a:rPr>
              <a:t>观看进度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FC7869-769F-428C-AD4E-68F3C6B3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19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A62"/>
                </a:solidFill>
              </a:defRPr>
            </a:pPr>
            <a:r>
              <a:rPr sz="1275" b="0">
                <a:solidFill>
                  <a:srgbClr val="5C6A62"/>
                </a:solidFill>
              </a:rPr>
              <a:t>记录继续观看和播放进度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A2F25A-34A3-4A5A-9451-5D12CAFE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30480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8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16434F-3659-423A-B653-7C16CF7E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D"/>
                </a:solidFill>
              </a:defRPr>
            </a:pPr>
            <a:r>
              <a:rPr sz="1875" b="1">
                <a:solidFill>
                  <a:srgbClr val="17211D"/>
                </a:solidFill>
              </a:rPr>
              <a:t>个人总结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8E9F85-3596-4752-B5E3-6697D490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A62"/>
                </a:solidFill>
              </a:defRPr>
            </a:pPr>
            <a:r>
              <a:rPr sz="1275" b="0">
                <a:solidFill>
                  <a:srgbClr val="5C6A62"/>
                </a:solidFill>
              </a:rPr>
              <a:t>统计数量、时长、评分和偏好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CF9D13-2558-4AE8-BE3A-CE76B827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90950"/>
            <a:ext cx="30480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8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AAFFF4-743C-4481-949F-3717B38A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00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D"/>
                </a:solidFill>
              </a:defRPr>
            </a:pPr>
            <a:r>
              <a:rPr sz="1875" b="1">
                <a:solidFill>
                  <a:srgbClr val="17211D"/>
                </a:solidFill>
              </a:rPr>
              <a:t>账号系统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CF4D56-8C34-4C7E-BB7C-9C374ED6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343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A62"/>
                </a:solidFill>
              </a:defRPr>
            </a:pPr>
            <a:r>
              <a:rPr sz="1275" b="0">
                <a:solidFill>
                  <a:srgbClr val="5C6A62"/>
                </a:solidFill>
              </a:rPr>
              <a:t>注册登录，数据按用户保存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B734C7-6E79-4845-BDE1-578C922C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90950"/>
            <a:ext cx="30480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9525">
            <a:solidFill>
              <a:srgbClr val="DCD8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9D4595-1642-4206-90AC-BC335180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00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6549"/>
                </a:solidFill>
              </a:defRPr>
            </a:pPr>
            <a:r>
              <a:rPr sz="1875" b="1">
                <a:solidFill>
                  <a:srgbClr val="0D6549"/>
                </a:solidFill>
              </a:rPr>
              <a:t>游客访问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1EA034-A285-460A-B89F-32D86164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43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A62"/>
                </a:solidFill>
              </a:defRPr>
            </a:pPr>
            <a:r>
              <a:rPr sz="1275" b="0">
                <a:solidFill>
                  <a:srgbClr val="5C6A62"/>
                </a:solidFill>
              </a:rPr>
              <a:t>无需登录，本机浏览器临时体验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D81995-9D0E-4D7D-A8AF-10C980FD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47E"/>
                </a:solidFill>
              </a:defRPr>
            </a:pPr>
            <a:r>
              <a:rPr sz="1050" b="0">
                <a:solidFill>
                  <a:srgbClr val="7A847E"/>
                </a:solidFill>
              </a:rPr>
              <a:t>影迹 CineList · 03</a:t>
            </a:r>
          </a:p>
        </p:txBody>
      </p:sp>
    </p:spTree>
    <p:extLst>
      <p:ext uri="{BB962C8B-B14F-4D97-AF65-F5344CB8AC3E}">
        <p14:creationId xmlns:p14="http://schemas.microsoft.com/office/powerpoint/2010/main" val="18818258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6D21ED-4948-4249-832B-577F916A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6549"/>
                </a:solidFill>
              </a:defRPr>
            </a:pPr>
            <a:r>
              <a:rPr sz="1200" b="1">
                <a:solidFill>
                  <a:srgbClr val="0D6549"/>
                </a:solidFill>
              </a:rPr>
              <a:t>03 / 演示路径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CA5E84-B0B8-4210-AA50-5B2E809C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11D"/>
                </a:solidFill>
              </a:defRPr>
            </a:pPr>
            <a:r>
              <a:rPr sz="3150" b="1">
                <a:solidFill>
                  <a:srgbClr val="17211D"/>
                </a:solidFill>
              </a:rPr>
              <a:t>现场实操按一条用户旅程展开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39C8D-A14A-4D38-B2E2-286955C2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A62"/>
                </a:solidFill>
              </a:defRPr>
            </a:pPr>
            <a:r>
              <a:rPr sz="1500" b="0">
                <a:solidFill>
                  <a:srgbClr val="5C6A62"/>
                </a:solidFill>
              </a:rPr>
              <a:t>从进入网站开始，展示游客体验和登录用户能力。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65B6A-F987-4806-A7C6-85D64151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13144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CD8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5A08E-7575-49DA-8DF4-C9A57F9C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051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6549"/>
                </a:solidFill>
              </a:defRPr>
            </a:pPr>
            <a:r>
              <a:rPr sz="2250" b="1">
                <a:solidFill>
                  <a:srgbClr val="0D6549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177F5-2395-4C4B-9FB7-82F4193F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623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1D"/>
                </a:solidFill>
              </a:defRPr>
            </a:pPr>
            <a:r>
              <a:rPr sz="1425" b="1">
                <a:solidFill>
                  <a:srgbClr val="17211D"/>
                </a:solidFill>
              </a:rPr>
              <a:t>打开网站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4F57B3-7A07-42F5-AA12-AEBDCDAC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480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5C35F0-9CC5-44F1-8E01-E3BE4B19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33700"/>
            <a:ext cx="13144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0D6549"/>
          </a:solidFill>
          <a:ln xmlns:a="http://schemas.openxmlformats.org/drawingml/2006/main" w="9525">
            <a:solidFill>
              <a:srgbClr val="0D654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C270F9-4A8A-423C-82F5-3612E268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051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43F408-47D4-4B84-BDBA-B6D6F437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623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选择游客或登录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92EB5-E4A3-492F-B675-C4271F6A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4480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763E58-752A-42A0-9AB7-0A1850C7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33700"/>
            <a:ext cx="13144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CD8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7E844A-9262-4E59-AD5A-432D8236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051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6549"/>
                </a:solidFill>
              </a:defRPr>
            </a:pPr>
            <a:r>
              <a:rPr sz="2250" b="1">
                <a:solidFill>
                  <a:srgbClr val="0D6549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5E4981-29AA-40A2-9F60-51707F7F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623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1D"/>
                </a:solidFill>
              </a:defRPr>
            </a:pPr>
            <a:r>
              <a:rPr sz="1425" b="1">
                <a:solidFill>
                  <a:srgbClr val="17211D"/>
                </a:solidFill>
              </a:rPr>
              <a:t>管理我的片单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4E3362-9901-422D-8226-3EEC501C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480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15618E-7FBC-4E1B-9C5E-DF43CB95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33700"/>
            <a:ext cx="13144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CD8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A735ED-22EF-4D1C-AC72-47C0A1B2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051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6549"/>
                </a:solidFill>
              </a:defRPr>
            </a:pPr>
            <a:r>
              <a:rPr sz="2250" b="1">
                <a:solidFill>
                  <a:srgbClr val="0D6549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574CB4-0743-4E2C-9132-3F904F54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623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1D"/>
                </a:solidFill>
              </a:defRPr>
            </a:pPr>
            <a:r>
              <a:rPr sz="1425" b="1">
                <a:solidFill>
                  <a:srgbClr val="17211D"/>
                </a:solidFill>
              </a:rPr>
              <a:t>快速选片推荐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A271C1-A914-4A77-A71A-459C2DF8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480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6E7D7E-D316-4212-BAF1-0BB05D20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33700"/>
            <a:ext cx="13144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CD8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ED0A80-1E83-46B4-AC69-4C1FB1A1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051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6549"/>
                </a:solidFill>
              </a:defRPr>
            </a:pPr>
            <a:r>
              <a:rPr sz="2250" b="1">
                <a:solidFill>
                  <a:srgbClr val="0D6549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1277CA-9CFD-45A6-A5B4-6AB0A770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623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1D"/>
                </a:solidFill>
              </a:defRPr>
            </a:pPr>
            <a:r>
              <a:rPr sz="1425" b="1">
                <a:solidFill>
                  <a:srgbClr val="17211D"/>
                </a:solidFill>
              </a:rPr>
              <a:t>查看排行榜与总结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85A77F-1990-47C7-9683-76729969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480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B6820D-77BA-4C68-81AB-DDB99CC5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33700"/>
            <a:ext cx="13144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CD8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B1DBFD-8F9A-4DB3-BDC2-71F1C318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1051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6549"/>
                </a:solidFill>
              </a:defRPr>
            </a:pPr>
            <a:r>
              <a:rPr sz="2250" b="1">
                <a:solidFill>
                  <a:srgbClr val="0D6549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D2E475-9F91-494D-8344-F9629A58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5623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1D"/>
                </a:solidFill>
              </a:defRPr>
            </a:pPr>
            <a:r>
              <a:rPr sz="1425" b="1">
                <a:solidFill>
                  <a:srgbClr val="17211D"/>
                </a:solidFill>
              </a:rPr>
              <a:t>账号数据保存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545DB7-1907-47DE-8D71-2E50947B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6549"/>
                </a:solidFill>
              </a:defRPr>
            </a:pPr>
            <a:r>
              <a:rPr sz="1725" b="1">
                <a:solidFill>
                  <a:srgbClr val="0D6549"/>
                </a:solidFill>
              </a:rPr>
              <a:t>演示建议：先点“跳过登录，以游客身份访问”，再展示注册登录的数据保存差异。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635C7B-9A07-49DB-946B-43B2BA84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47E"/>
                </a:solidFill>
              </a:defRPr>
            </a:pPr>
            <a:r>
              <a:rPr sz="1050" b="0">
                <a:solidFill>
                  <a:srgbClr val="7A847E"/>
                </a:solidFill>
              </a:rPr>
              <a:t>影迹 CineList · 04</a:t>
            </a:r>
          </a:p>
        </p:txBody>
      </p:sp>
    </p:spTree>
    <p:extLst>
      <p:ext uri="{BB962C8B-B14F-4D97-AF65-F5344CB8AC3E}">
        <p14:creationId xmlns:p14="http://schemas.microsoft.com/office/powerpoint/2010/main" val="19962763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260EDF-CEC5-4FB2-B98E-51E1D85C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6549"/>
                </a:solidFill>
              </a:defRPr>
            </a:pPr>
            <a:r>
              <a:rPr sz="1200" b="1">
                <a:solidFill>
                  <a:srgbClr val="0D6549"/>
                </a:solidFill>
              </a:rPr>
              <a:t>04 / 关键页面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8CC3E5-4D7D-4F96-8182-C76B278F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11D"/>
                </a:solidFill>
              </a:defRPr>
            </a:pPr>
            <a:r>
              <a:rPr sz="3150" b="1">
                <a:solidFill>
                  <a:srgbClr val="17211D"/>
                </a:solidFill>
              </a:rPr>
              <a:t>首页承担“快速决策”的入口角色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D4C73-DB0F-4EE0-9866-23A6F24F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A62"/>
                </a:solidFill>
              </a:defRPr>
            </a:pPr>
            <a:r>
              <a:rPr sz="1500" b="0">
                <a:solidFill>
                  <a:srgbClr val="5C6A62"/>
                </a:solidFill>
              </a:rPr>
              <a:t>用户可以搜索影片、继续观看、进入片单管理或快速选片。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C762B-8A38-425B-B9C1-0A7B2D03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66675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9525">
            <a:solidFill>
              <a:srgbClr val="DCD8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CB7F9-1201-422F-B3E9-A3D4DE3A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52700"/>
            <a:ext cx="5334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11D"/>
                </a:solidFill>
              </a:defRPr>
            </a:pPr>
            <a:r>
              <a:rPr sz="3450" b="1">
                <a:solidFill>
                  <a:srgbClr val="17211D"/>
                </a:solidFill>
              </a:rPr>
              <a:t>今晚看什么，交给一张会记忆的片单。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E76B7-94D6-4595-91D0-82E36719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81450"/>
            <a:ext cx="4000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8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045B12-520F-4ACE-BC45-FA29419F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052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A62"/>
                </a:solidFill>
              </a:defRPr>
            </a:pPr>
            <a:r>
              <a:rPr sz="1350" b="0">
                <a:solidFill>
                  <a:srgbClr val="5C6A62"/>
                </a:solidFill>
              </a:rPr>
              <a:t>搜索影片、类型或英文名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80EFF-2B20-4CAC-857E-284C43B0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981450"/>
            <a:ext cx="5524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D6549"/>
          </a:solidFill>
          <a:ln xmlns:a="http://schemas.openxmlformats.org/drawingml/2006/main" w="9525">
            <a:solidFill>
              <a:srgbClr val="0D654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33D068-1AE3-4493-BCB5-1B671CEC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0576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835774-49B7-4A63-81A6-68A07FF6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52650"/>
            <a:ext cx="2857500" cy="314325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CD8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9F9D79-4A33-492F-8BD9-5FDF78F3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76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D6549"/>
                </a:solidFill>
              </a:defRPr>
            </a:pPr>
            <a:r>
              <a:rPr sz="2025" b="1">
                <a:solidFill>
                  <a:srgbClr val="0D6549"/>
                </a:solidFill>
              </a:rPr>
              <a:t>首页展示重点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3FF259-239B-4C96-A8B0-F0848EAE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81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B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DCCD27-537F-4753-979A-964E854B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05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A62"/>
                </a:solidFill>
              </a:defRPr>
            </a:pPr>
            <a:r>
              <a:rPr sz="1650" b="0">
                <a:solidFill>
                  <a:srgbClr val="5C6A62"/>
                </a:solidFill>
              </a:rPr>
              <a:t>继续观看进度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744B05-A461-40ED-A686-757ABF5F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57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B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FC5287-E7B8-41A1-A9F9-ED4277D3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814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A62"/>
                </a:solidFill>
              </a:defRPr>
            </a:pPr>
            <a:r>
              <a:rPr sz="1650" b="0">
                <a:solidFill>
                  <a:srgbClr val="5C6A62"/>
                </a:solidFill>
              </a:rPr>
              <a:t>评分与热度榜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6B2AE1-2AFF-4AAE-9251-5D5067B3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33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5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710FFA-ABB2-47E5-8357-6D1B0218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576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D"/>
                </a:solidFill>
              </a:defRPr>
            </a:pPr>
            <a:r>
              <a:rPr sz="1650" b="1">
                <a:solidFill>
                  <a:srgbClr val="17211D"/>
                </a:solidFill>
              </a:rPr>
              <a:t>快速选片入口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1426BB-67F7-4009-8830-942F27DE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47E"/>
                </a:solidFill>
              </a:defRPr>
            </a:pPr>
            <a:r>
              <a:rPr sz="1050" b="0">
                <a:solidFill>
                  <a:srgbClr val="7A847E"/>
                </a:solidFill>
              </a:rPr>
              <a:t>影迹 CineList · 05</a:t>
            </a:r>
          </a:p>
        </p:txBody>
      </p:sp>
    </p:spTree>
    <p:extLst>
      <p:ext uri="{BB962C8B-B14F-4D97-AF65-F5344CB8AC3E}">
        <p14:creationId xmlns:p14="http://schemas.microsoft.com/office/powerpoint/2010/main" val="10398337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284531-59BA-4661-8B6D-962ED9D0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6549"/>
                </a:solidFill>
              </a:defRPr>
            </a:pPr>
            <a:r>
              <a:rPr sz="1200" b="1">
                <a:solidFill>
                  <a:srgbClr val="0D6549"/>
                </a:solidFill>
              </a:rPr>
              <a:t>05 / 数据保存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52F7D-45CD-4938-BD31-8305ECA2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11D"/>
                </a:solidFill>
              </a:defRPr>
            </a:pPr>
            <a:r>
              <a:rPr sz="3150" b="1">
                <a:solidFill>
                  <a:srgbClr val="17211D"/>
                </a:solidFill>
              </a:rPr>
              <a:t>登录用户和游客用户的数据边界清晰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947E4-16C3-4CAF-A90C-BA0B2E2C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A62"/>
                </a:solidFill>
              </a:defRPr>
            </a:pPr>
            <a:r>
              <a:rPr sz="1500" b="0">
                <a:solidFill>
                  <a:srgbClr val="5C6A62"/>
                </a:solidFill>
              </a:rPr>
              <a:t>这让临时体验和长期使用可以同时存在。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841C1-5A2E-4863-9CF2-EC5F4D01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47900"/>
            <a:ext cx="434340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CD8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C9826-E21C-4D0C-8779-FB18BC2A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098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6549"/>
                </a:solidFill>
              </a:defRPr>
            </a:pPr>
            <a:r>
              <a:rPr sz="2250" b="1">
                <a:solidFill>
                  <a:srgbClr val="0D6549"/>
                </a:solidFill>
              </a:rPr>
              <a:t>注册 / 登录用户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E90C60-B247-41AA-BF7A-91799E8F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5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4E64ED-42C9-43A6-AA1D-E34B3994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38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D"/>
                </a:solidFill>
              </a:defRPr>
            </a:pPr>
            <a:r>
              <a:rPr sz="1650" b="1">
                <a:solidFill>
                  <a:srgbClr val="17211D"/>
                </a:solidFill>
              </a:rPr>
              <a:t>JWT 保持登录状态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D1B9E8-44E8-43A0-8D3F-F3FFF3D1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90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B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57491-7958-4B11-96B9-6B85BA89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7147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A62"/>
                </a:solidFill>
              </a:defRPr>
            </a:pPr>
            <a:r>
              <a:rPr sz="1650" b="0">
                <a:solidFill>
                  <a:srgbClr val="5C6A62"/>
                </a:solidFill>
              </a:rPr>
              <a:t>数据同步到 SQL Server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5353E7-49D8-4689-AC90-86EF1E52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67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B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841B9A-F13B-4FD5-A3F5-5D66E8C1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910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A62"/>
                </a:solidFill>
              </a:defRPr>
            </a:pPr>
            <a:r>
              <a:rPr sz="1650" b="0">
                <a:solidFill>
                  <a:srgbClr val="5C6A62"/>
                </a:solidFill>
              </a:rPr>
              <a:t>不同用户数据互不影响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F7232B-5B45-4377-8E30-9C7979EF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34340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CD8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7C5A21-8368-4259-9AB6-10A9D61B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098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1861B"/>
                </a:solidFill>
              </a:defRPr>
            </a:pPr>
            <a:r>
              <a:rPr sz="2250" b="1">
                <a:solidFill>
                  <a:srgbClr val="C1861B"/>
                </a:solidFill>
              </a:rPr>
              <a:t>游客访问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BC546E-999A-44E4-81B0-CE3B7B9D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5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6DF035-0039-4DA2-9471-C2BA75A7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38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D"/>
                </a:solidFill>
              </a:defRPr>
            </a:pPr>
            <a:r>
              <a:rPr sz="1650" b="1">
                <a:solidFill>
                  <a:srgbClr val="17211D"/>
                </a:solidFill>
              </a:rPr>
              <a:t>无需注册，直接体验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7DCD4F-DDA8-4971-9B04-750FC5B8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90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B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CD05B7-8766-4920-B2FF-86065718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7147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A62"/>
                </a:solidFill>
              </a:defRPr>
            </a:pPr>
            <a:r>
              <a:rPr sz="1650" b="0">
                <a:solidFill>
                  <a:srgbClr val="5C6A62"/>
                </a:solidFill>
              </a:rPr>
              <a:t>数据只保存在当前浏览器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33FFB5-878F-46EA-8097-F7916D12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67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B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2A7684-4BB2-4D1E-A054-CE193B46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1910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A62"/>
                </a:solidFill>
              </a:defRPr>
            </a:pPr>
            <a:r>
              <a:rPr sz="1650" b="0">
                <a:solidFill>
                  <a:srgbClr val="5C6A62"/>
                </a:solidFill>
              </a:rPr>
              <a:t>适合演示和临时使用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8DDD99-62D5-4D8C-8773-74EEBED2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47E"/>
                </a:solidFill>
              </a:defRPr>
            </a:pPr>
            <a:r>
              <a:rPr sz="1050" b="0">
                <a:solidFill>
                  <a:srgbClr val="7A847E"/>
                </a:solidFill>
              </a:rPr>
              <a:t>影迹 CineList · 06</a:t>
            </a:r>
          </a:p>
        </p:txBody>
      </p:sp>
    </p:spTree>
    <p:extLst>
      <p:ext uri="{BB962C8B-B14F-4D97-AF65-F5344CB8AC3E}">
        <p14:creationId xmlns:p14="http://schemas.microsoft.com/office/powerpoint/2010/main" val="16847383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D8B77B-8F42-40F5-9AC1-A03DE0E1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6549"/>
                </a:solidFill>
              </a:defRPr>
            </a:pPr>
            <a:r>
              <a:rPr sz="1200" b="1">
                <a:solidFill>
                  <a:srgbClr val="0D6549"/>
                </a:solidFill>
              </a:rPr>
              <a:t>06 / 技术架构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C8716-6C31-4021-92D4-4E5C3FF3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11D"/>
                </a:solidFill>
              </a:defRPr>
            </a:pPr>
            <a:r>
              <a:rPr sz="3150" b="1">
                <a:solidFill>
                  <a:srgbClr val="17211D"/>
                </a:solidFill>
              </a:rPr>
              <a:t>前端、后端、数据库由 Nginx 串联成公网服务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8BAB0-F5F5-4902-9BF9-8A2087D5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A62"/>
                </a:solidFill>
              </a:defRPr>
            </a:pPr>
            <a:r>
              <a:rPr sz="1500" b="0">
                <a:solidFill>
                  <a:srgbClr val="5C6A62"/>
                </a:solidFill>
              </a:rPr>
              <a:t>本地开发验证后，再把发布物部署到 Windows Server。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AF28A-2612-4495-9609-5C699ED7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095500" cy="11811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9525">
            <a:solidFill>
              <a:srgbClr val="DCD8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ADF6BD-69DD-456F-8F00-74B11F53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D"/>
                </a:solidFill>
              </a:defRPr>
            </a:pPr>
            <a:r>
              <a:rPr sz="1875" b="1">
                <a:solidFill>
                  <a:srgbClr val="17211D"/>
                </a:solidFill>
              </a:rPr>
              <a:t>用户浏览器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EDA2C-A0E2-4DE0-AACB-7C903793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A62"/>
                </a:solidFill>
              </a:defRPr>
            </a:pPr>
            <a:r>
              <a:rPr sz="1275" b="0">
                <a:solidFill>
                  <a:srgbClr val="5C6A62"/>
                </a:solidFill>
              </a:rPr>
              <a:t>访问公网 IP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7E5E0C-93B9-488D-9FC2-55DBEE90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432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D6549"/>
                </a:solidFill>
              </a:defRPr>
            </a:pPr>
            <a:r>
              <a:rPr sz="3000" b="1">
                <a:solidFill>
                  <a:srgbClr val="0D6549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FAA4CD-DA4A-4362-8BF9-038EF53B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81300"/>
            <a:ext cx="2095500" cy="11811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0D6549"/>
          </a:solidFill>
          <a:ln xmlns:a="http://schemas.openxmlformats.org/drawingml/2006/main" w="9525">
            <a:solidFill>
              <a:srgbClr val="0D654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086F76-AB7C-4AB1-8E86-4C55CF48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28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Nginx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3F4A58-5A98-47C8-854A-616E4D09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290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EE"/>
                </a:solidFill>
              </a:defRPr>
            </a:pPr>
            <a:r>
              <a:rPr sz="1275" b="0">
                <a:solidFill>
                  <a:srgbClr val="EAF4EE"/>
                </a:solidFill>
              </a:rPr>
              <a:t>托管 dist / 代理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28C51D-73F7-4EE7-A88E-338E1ECF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432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D6549"/>
                </a:solidFill>
              </a:defRPr>
            </a:pPr>
            <a:r>
              <a:rPr sz="3000" b="1">
                <a:solidFill>
                  <a:srgbClr val="0D6549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EB787F-0658-484F-ABCE-1E77FB9E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2095500" cy="11811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9525">
            <a:solidFill>
              <a:srgbClr val="DCD8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B98469-CB3F-4C58-983F-7A8E5A1A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8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D"/>
                </a:solidFill>
              </a:defRPr>
            </a:pPr>
            <a:r>
              <a:rPr sz="1875" b="1">
                <a:solidFill>
                  <a:srgbClr val="17211D"/>
                </a:solidFill>
              </a:rPr>
              <a:t>Express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C99D47-69A2-4FD4-9C1A-933B6183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290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A62"/>
                </a:solidFill>
              </a:defRPr>
            </a:pPr>
            <a:r>
              <a:rPr sz="1275" b="0">
                <a:solidFill>
                  <a:srgbClr val="5C6A62"/>
                </a:solidFill>
              </a:rPr>
              <a:t>注册登录 / 状态读写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BF0669-8C1C-49BA-9BAD-B8DA30F4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432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D6549"/>
                </a:solidFill>
              </a:defRPr>
            </a:pPr>
            <a:r>
              <a:rPr sz="3000" b="1">
                <a:solidFill>
                  <a:srgbClr val="0D6549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09979D-AADB-463C-A285-4D842933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81300"/>
            <a:ext cx="2095500" cy="11811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9525">
            <a:solidFill>
              <a:srgbClr val="DCD8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ABD915-D323-461C-99CA-93AF17D5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28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D"/>
                </a:solidFill>
              </a:defRPr>
            </a:pPr>
            <a:r>
              <a:rPr sz="1875" b="1">
                <a:solidFill>
                  <a:srgbClr val="17211D"/>
                </a:solidFill>
              </a:rPr>
              <a:t>SQL Server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927D5E-4C48-4A22-9CD4-B2D9271E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290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A62"/>
                </a:solidFill>
              </a:defRPr>
            </a:pPr>
            <a:r>
              <a:rPr sz="1275" b="0">
                <a:solidFill>
                  <a:srgbClr val="5C6A62"/>
                </a:solidFill>
              </a:rPr>
              <a:t>Users / UserAppStates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226930-4DA3-4001-886C-F5F5CA70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D"/>
                </a:solidFill>
              </a:defRPr>
            </a:pPr>
            <a:r>
              <a:rPr sz="1725" b="1">
                <a:solidFill>
                  <a:srgbClr val="17211D"/>
                </a:solidFill>
              </a:rPr>
              <a:t>核心技术：React + TypeScript + Vite / Node.js + Express / SQL Server / Nginx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06E600-AEC6-4BB6-8B07-218E67E4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47E"/>
                </a:solidFill>
              </a:defRPr>
            </a:pPr>
            <a:r>
              <a:rPr sz="1050" b="0">
                <a:solidFill>
                  <a:srgbClr val="7A847E"/>
                </a:solidFill>
              </a:rPr>
              <a:t>影迹 CineList · 07</a:t>
            </a:r>
          </a:p>
        </p:txBody>
      </p:sp>
    </p:spTree>
    <p:extLst>
      <p:ext uri="{BB962C8B-B14F-4D97-AF65-F5344CB8AC3E}">
        <p14:creationId xmlns:p14="http://schemas.microsoft.com/office/powerpoint/2010/main" val="13624315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070B0A-6B74-468B-97AB-076A3FEC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6549"/>
                </a:solidFill>
              </a:defRPr>
            </a:pPr>
            <a:r>
              <a:rPr sz="1200" b="1">
                <a:solidFill>
                  <a:srgbClr val="0D6549"/>
                </a:solidFill>
              </a:rPr>
              <a:t>07 / 当前成果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99BDE-24E1-4149-A316-76D02491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11D"/>
                </a:solidFill>
              </a:defRPr>
            </a:pPr>
            <a:r>
              <a:rPr sz="3150" b="1">
                <a:solidFill>
                  <a:srgbClr val="17211D"/>
                </a:solidFill>
              </a:rPr>
              <a:t>影迹已经从静态页面升级为可多人使用的网站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3C644-4D46-4F8B-815E-006B6D13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A62"/>
                </a:solidFill>
              </a:defRPr>
            </a:pPr>
            <a:r>
              <a:rPr sz="1500" b="0">
                <a:solidFill>
                  <a:srgbClr val="5C6A62"/>
                </a:solidFill>
              </a:rPr>
              <a:t>系统完成了公网访问、账号保存和游客体验三条关键链路。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99789-6B6E-498D-B57D-B866AB7B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20955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CD8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9A63F3-C6F1-4115-ADA7-03A8C649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3370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D6549"/>
                </a:solidFill>
              </a:defRPr>
            </a:pPr>
            <a:r>
              <a:rPr sz="2850" b="1">
                <a:solidFill>
                  <a:srgbClr val="0D6549"/>
                </a:solidFill>
              </a:rPr>
              <a:t>已完成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C72A7-3AB7-470D-BC94-EF29486E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814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A62"/>
                </a:solidFill>
              </a:defRPr>
            </a:pPr>
            <a:r>
              <a:rPr sz="1650" b="0">
                <a:solidFill>
                  <a:srgbClr val="5C6A62"/>
                </a:solidFill>
              </a:rPr>
              <a:t>公网访问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AC548-21C9-4A31-A937-E9A55C4A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47950"/>
            <a:ext cx="20955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CD8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65F5F1-F5A4-43A1-95E9-697A3EA5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93370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D6549"/>
                </a:solidFill>
              </a:defRPr>
            </a:pPr>
            <a:r>
              <a:rPr sz="2850" b="1">
                <a:solidFill>
                  <a:srgbClr val="0D6549"/>
                </a:solidFill>
              </a:rPr>
              <a:t>已接入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93729-9433-4C8D-B453-6325A4D1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5814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A62"/>
                </a:solidFill>
              </a:defRPr>
            </a:pPr>
            <a:r>
              <a:rPr sz="1650" b="0">
                <a:solidFill>
                  <a:srgbClr val="5C6A62"/>
                </a:solidFill>
              </a:rPr>
              <a:t>注册登录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6C640D-4176-4EFC-AFB7-B3F945B5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47950"/>
            <a:ext cx="20955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CD8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64AC2D-D3AA-410F-8CC8-92A2D161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3370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D6549"/>
                </a:solidFill>
              </a:defRPr>
            </a:pPr>
            <a:r>
              <a:rPr sz="2850" b="1">
                <a:solidFill>
                  <a:srgbClr val="0D6549"/>
                </a:solidFill>
              </a:rPr>
              <a:t>已验证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906C1A-8E60-4C48-8CCF-1840A4AA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814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A62"/>
                </a:solidFill>
              </a:defRPr>
            </a:pPr>
            <a:r>
              <a:rPr sz="1650" b="0">
                <a:solidFill>
                  <a:srgbClr val="5C6A62"/>
                </a:solidFill>
              </a:rPr>
              <a:t>SQL 保存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9AD97A-260A-4BC8-9A10-4B72A47B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47950"/>
            <a:ext cx="20955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CD8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371897-B38D-4B13-8740-CC6A2E9D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3370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D6549"/>
                </a:solidFill>
              </a:defRPr>
            </a:pPr>
            <a:r>
              <a:rPr sz="2850" b="1">
                <a:solidFill>
                  <a:srgbClr val="0D6549"/>
                </a:solidFill>
              </a:rPr>
              <a:t>已新增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DE2505-6A3E-478D-94E4-67BE9E2B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814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A62"/>
                </a:solidFill>
              </a:defRPr>
            </a:pPr>
            <a:r>
              <a:rPr sz="1650" b="0">
                <a:solidFill>
                  <a:srgbClr val="5C6A62"/>
                </a:solidFill>
              </a:rPr>
              <a:t>游客访问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3A3C61-D544-447D-BF8B-6AD5436A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768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D"/>
                </a:solidFill>
              </a:defRPr>
            </a:pPr>
            <a:r>
              <a:rPr sz="1875" b="1">
                <a:solidFill>
                  <a:srgbClr val="17211D"/>
                </a:solidFill>
              </a:rPr>
              <a:t>从“本机 localStorage 原型”到“服务器数据库保存”，系统边界已经完成一次关键升级。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BBDAC5-89E1-4258-AB68-35029576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47E"/>
                </a:solidFill>
              </a:defRPr>
            </a:pPr>
            <a:r>
              <a:rPr sz="1050" b="0">
                <a:solidFill>
                  <a:srgbClr val="7A847E"/>
                </a:solidFill>
              </a:rPr>
              <a:t>影迹 CineList · 08</a:t>
            </a:r>
          </a:p>
        </p:txBody>
      </p:sp>
    </p:spTree>
    <p:extLst>
      <p:ext uri="{BB962C8B-B14F-4D97-AF65-F5344CB8AC3E}">
        <p14:creationId xmlns:p14="http://schemas.microsoft.com/office/powerpoint/2010/main" val="15811043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8298CD-3A0A-48F1-AC85-69AD0EFD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6549"/>
                </a:solidFill>
              </a:defRPr>
            </a:pPr>
            <a:r>
              <a:rPr sz="1200" b="1">
                <a:solidFill>
                  <a:srgbClr val="0D6549"/>
                </a:solidFill>
              </a:rPr>
              <a:t>08 / 仍然不足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D616F-8864-42BC-8E7F-E037C08E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11D"/>
                </a:solidFill>
              </a:defRPr>
            </a:pPr>
            <a:r>
              <a:rPr sz="3150" b="1">
                <a:solidFill>
                  <a:srgbClr val="17211D"/>
                </a:solidFill>
              </a:rPr>
              <a:t>系统可用，但还不是完整的产品级平台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CF16B-C6D7-471B-A6D6-EB7BF6B0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A62"/>
                </a:solidFill>
              </a:defRPr>
            </a:pPr>
            <a:r>
              <a:rPr sz="1500" b="0">
                <a:solidFill>
                  <a:srgbClr val="5C6A62"/>
                </a:solidFill>
              </a:rPr>
              <a:t>当前短板集中在账号能力、数据模型、实时协作和部署自动化。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D2EDD-D233-4FF9-BF41-C041DBE4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24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B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DF3B26-8C0D-41C4-8C4E-DAC646ED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479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A62"/>
                </a:solidFill>
              </a:defRPr>
            </a:pPr>
            <a:r>
              <a:rPr sz="1650" b="0">
                <a:solidFill>
                  <a:srgbClr val="5C6A62"/>
                </a:solidFill>
              </a:rPr>
              <a:t>游客数据不能跨设备保存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833E1-1D7F-479F-B52C-630A1FCF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14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B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9DADA-8721-406A-9B41-F693B5C0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384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A62"/>
                </a:solidFill>
              </a:defRPr>
            </a:pPr>
            <a:r>
              <a:rPr sz="1650" b="0">
                <a:solidFill>
                  <a:srgbClr val="5C6A62"/>
                </a:solidFill>
              </a:rPr>
              <a:t>缺少找回密码和修改密码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96F34-EF82-4398-96D2-222A8F14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5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0A64C0-2AF2-4DF7-9586-DE7E0C42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D"/>
                </a:solidFill>
              </a:defRPr>
            </a:pPr>
            <a:r>
              <a:rPr sz="1650" b="1">
                <a:solidFill>
                  <a:srgbClr val="17211D"/>
                </a:solidFill>
              </a:rPr>
              <a:t>用户状态仍以 JSON 整体保存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E9D3B0-350E-4DD3-A4AF-E0A2FA3B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B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1E4DB5-D995-491D-97AF-6F79D2E7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195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A62"/>
                </a:solidFill>
              </a:defRPr>
            </a:pPr>
            <a:r>
              <a:rPr sz="1650" b="0">
                <a:solidFill>
                  <a:srgbClr val="5C6A62"/>
                </a:solidFill>
              </a:rPr>
              <a:t>一起看还没有 WebSocket 实时同步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2D275E-396F-42CE-BE36-5C2FC140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B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8268CD-498A-4BDC-888C-7A2176D7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A62"/>
                </a:solidFill>
              </a:defRPr>
            </a:pPr>
            <a:r>
              <a:rPr sz="1650" b="0">
                <a:solidFill>
                  <a:srgbClr val="5C6A62"/>
                </a:solidFill>
              </a:rPr>
              <a:t>缺少管理员后台和自动化部署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132B31-EAC5-4FE8-B58A-459885C8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38400"/>
            <a:ext cx="3143250" cy="219075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17352D"/>
          </a:solidFill>
          <a:ln xmlns:a="http://schemas.openxmlformats.org/drawingml/2006/main" w="9525">
            <a:solidFill>
              <a:srgbClr val="17352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064B83-8A00-4CB3-8F52-1779FAA4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813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判断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F82DD9-F9DB-4B1E-A0BA-02AE0639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33750"/>
            <a:ext cx="238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现在适合课程演示和小范围试用，下一步要补齐长期运营能力。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C212BD-C01E-471F-AEF6-F55E3C98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47E"/>
                </a:solidFill>
              </a:defRPr>
            </a:pPr>
            <a:r>
              <a:rPr sz="1050" b="0">
                <a:solidFill>
                  <a:srgbClr val="7A847E"/>
                </a:solidFill>
              </a:rPr>
              <a:t>影迹 CineList · 09</a:t>
            </a:r>
          </a:p>
        </p:txBody>
      </p:sp>
    </p:spTree>
    <p:extLst>
      <p:ext uri="{BB962C8B-B14F-4D97-AF65-F5344CB8AC3E}">
        <p14:creationId xmlns:p14="http://schemas.microsoft.com/office/powerpoint/2010/main" val="1044252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D4B519-4A6C-45F3-9584-49446EE0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6549"/>
                </a:solidFill>
              </a:defRPr>
            </a:pPr>
            <a:r>
              <a:rPr sz="1200" b="1">
                <a:solidFill>
                  <a:srgbClr val="0D6549"/>
                </a:solidFill>
              </a:rPr>
              <a:t>09 / 优化计划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379AA-E2A8-4C26-834C-2CF7AE19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11D"/>
                </a:solidFill>
              </a:defRPr>
            </a:pPr>
            <a:r>
              <a:rPr sz="3150" b="1">
                <a:solidFill>
                  <a:srgbClr val="17211D"/>
                </a:solidFill>
              </a:rPr>
              <a:t>下一阶段把影迹从可用推向更稳定、更智能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AAEF3-EAA9-433E-AEBB-17793CB7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A62"/>
                </a:solidFill>
              </a:defRPr>
            </a:pPr>
            <a:r>
              <a:rPr sz="1500" b="0">
                <a:solidFill>
                  <a:srgbClr val="5C6A62"/>
                </a:solidFill>
              </a:rPr>
              <a:t>优先处理账号完整性、数据结构和多人协作。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5BFB3-BDFD-4163-B6EF-06DD2D74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6549"/>
                </a:solidFill>
              </a:defRPr>
            </a:pPr>
            <a:r>
              <a:rPr sz="2100" b="1">
                <a:solidFill>
                  <a:srgbClr val="0D6549"/>
                </a:solidFill>
              </a:rPr>
              <a:t>近期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898B43-ADC3-4072-BE43-AE6F9D70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86000"/>
            <a:ext cx="78105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CD8C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AF78DB-7073-4011-9220-8AA276EB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955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1D"/>
                </a:solidFill>
              </a:defRPr>
            </a:pPr>
            <a:r>
              <a:rPr sz="1725" b="0">
                <a:solidFill>
                  <a:srgbClr val="17211D"/>
                </a:solidFill>
              </a:rPr>
              <a:t>完善密码修改、找回密码、游客数据导入账号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9A616-58D5-4A36-830A-0B2E2767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004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6549"/>
                </a:solidFill>
              </a:defRPr>
            </a:pPr>
            <a:r>
              <a:rPr sz="2100" b="1">
                <a:solidFill>
                  <a:srgbClr val="0D6549"/>
                </a:solidFill>
              </a:rPr>
              <a:t>中期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900B16-E31A-4E13-BFAD-E30B8829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29000"/>
            <a:ext cx="78105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CD8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B90240-8FA9-47A9-8D7F-D17C9970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385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1D"/>
                </a:solidFill>
              </a:defRPr>
            </a:pPr>
            <a:r>
              <a:rPr sz="1725" b="0">
                <a:solidFill>
                  <a:srgbClr val="17211D"/>
                </a:solidFill>
              </a:rPr>
              <a:t>拆分电影、评分、记录等业务表，支持更细统计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A0B19-4FF6-4F6D-A004-9624E16F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434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6549"/>
                </a:solidFill>
              </a:defRPr>
            </a:pPr>
            <a:r>
              <a:rPr sz="2100" b="1">
                <a:solidFill>
                  <a:srgbClr val="0D6549"/>
                </a:solidFill>
              </a:rPr>
              <a:t>后期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F17059-8729-4E1F-827C-18D2CBC0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572000"/>
            <a:ext cx="78105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CD8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BCE4E3-7A81-4E46-9695-4CE1ECA7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815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1D"/>
                </a:solidFill>
              </a:defRPr>
            </a:pPr>
            <a:r>
              <a:rPr sz="1725" b="0">
                <a:solidFill>
                  <a:srgbClr val="17211D"/>
                </a:solidFill>
              </a:rPr>
              <a:t>WebSocket 共看房间、管理员后台、自动化部署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F7EA7E-D257-42CC-B6EF-E5D36573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47E"/>
                </a:solidFill>
              </a:defRPr>
            </a:pPr>
            <a:r>
              <a:rPr sz="1050" b="0">
                <a:solidFill>
                  <a:srgbClr val="7A847E"/>
                </a:solidFill>
              </a:rPr>
              <a:t>影迹 CineList · 10</a:t>
            </a:r>
          </a:p>
        </p:txBody>
      </p:sp>
    </p:spTree>
    <p:extLst>
      <p:ext uri="{BB962C8B-B14F-4D97-AF65-F5344CB8AC3E}">
        <p14:creationId xmlns:p14="http://schemas.microsoft.com/office/powerpoint/2010/main" val="3139424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35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38083-4C97-413F-9568-167FC8A4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48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FE4D5"/>
                </a:solidFill>
              </a:defRPr>
            </a:pPr>
            <a:r>
              <a:rPr sz="1875" b="1">
                <a:solidFill>
                  <a:srgbClr val="BFE4D5"/>
                </a:solidFill>
              </a:rPr>
              <a:t>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F52ED3-2DE5-4662-A58C-83F48414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859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影迹已经具备完整演示闭环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6E325-D380-4735-AB76-16E6A228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EAF4EE"/>
                </a:solidFill>
              </a:defRPr>
            </a:pPr>
            <a:r>
              <a:rPr sz="1950" b="0">
                <a:solidFill>
                  <a:srgbClr val="EAF4EE"/>
                </a:solidFill>
              </a:rPr>
              <a:t>它能展示一个观影管理系统如何从个人片单工具，逐步演进为支持账号、数据库和公网访问的多人网站。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D4EBAF-D922-44B8-988A-D0FE1F8A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85750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23DE1-EAF5-4339-900D-FA2902B2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D6549"/>
                </a:solidFill>
              </a:defRPr>
            </a:pPr>
            <a:r>
              <a:rPr sz="1950" b="1">
                <a:solidFill>
                  <a:srgbClr val="0D6549"/>
                </a:solidFill>
              </a:rPr>
              <a:t>立即演示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96106-DE41-4D72-B9A1-1AA33E44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A62"/>
                </a:solidFill>
              </a:defRPr>
            </a:pPr>
            <a:r>
              <a:rPr sz="1350" b="0">
                <a:solidFill>
                  <a:srgbClr val="5C6A62"/>
                </a:solidFill>
              </a:rPr>
              <a:t>http://8.210.26.129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F2513-01AB-4D19-A73B-564EA120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47E"/>
                </a:solidFill>
              </a:defRPr>
            </a:pPr>
            <a:r>
              <a:rPr sz="1050" b="0">
                <a:solidFill>
                  <a:srgbClr val="7A847E"/>
                </a:solidFill>
              </a:rPr>
              <a:t>影迹 CineList · 11</a:t>
            </a:r>
          </a:p>
        </p:txBody>
      </p:sp>
    </p:spTree>
    <p:extLst>
      <p:ext uri="{BB962C8B-B14F-4D97-AF65-F5344CB8AC3E}">
        <p14:creationId xmlns:p14="http://schemas.microsoft.com/office/powerpoint/2010/main" val="16174095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2026-08-13T09:33:41.3920000Z</dcterms:created>
  <dcterms:modified xsi:type="dcterms:W3CDTF">2026-08-13T09:33:41.3920000Z</dcterms:modified>
</coreProperties>
</file>